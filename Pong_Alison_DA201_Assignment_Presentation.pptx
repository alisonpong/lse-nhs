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3"/>
  </p:notesMasterIdLst>
  <p:handoutMasterIdLst>
    <p:handoutMasterId r:id="rId24"/>
  </p:handoutMasterIdLst>
  <p:sldIdLst>
    <p:sldId id="256" r:id="rId5"/>
    <p:sldId id="299" r:id="rId6"/>
    <p:sldId id="300" r:id="rId7"/>
    <p:sldId id="304" r:id="rId8"/>
    <p:sldId id="316" r:id="rId9"/>
    <p:sldId id="305" r:id="rId10"/>
    <p:sldId id="310" r:id="rId11"/>
    <p:sldId id="309" r:id="rId12"/>
    <p:sldId id="306" r:id="rId13"/>
    <p:sldId id="312" r:id="rId14"/>
    <p:sldId id="314" r:id="rId15"/>
    <p:sldId id="308" r:id="rId16"/>
    <p:sldId id="315" r:id="rId17"/>
    <p:sldId id="318" r:id="rId18"/>
    <p:sldId id="311" r:id="rId19"/>
    <p:sldId id="319" r:id="rId20"/>
    <p:sldId id="322" r:id="rId21"/>
    <p:sldId id="32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9933"/>
    <a:srgbClr val="9966FF"/>
    <a:srgbClr val="CC66FF"/>
    <a:srgbClr val="CCCCFF"/>
    <a:srgbClr val="FBF4EF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09" autoAdjust="0"/>
  </p:normalViewPr>
  <p:slideViewPr>
    <p:cSldViewPr snapToGrid="0">
      <p:cViewPr varScale="1">
        <p:scale>
          <a:sx n="99" d="100"/>
          <a:sy n="99" d="100"/>
        </p:scale>
        <p:origin x="1032" y="8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thank you for joining this presentation. My name is Alison, and I will be presenting the diagnostic analysis of NHS appointment utilization and capacity leakage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19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203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NHS must expand its infrastructure to keep pace with a growing population. To budget effectively, we need to understand current utilization trends and, specifically, how to manage the 'hidden crisis' of missed appointments (DNAs). Every missed slot represents a wasted clinical resource. Our objective today is to map where this capacity is lost, identify the risk factors, and provide data-driven recommendations to stabilize the system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747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19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9243-DAD4-BEF4-B363-A9E5B908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F5E23-090E-CA81-DBDC-C1D5E2677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C92F9-F357-B69A-1E30-041C0675E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assessment covers data from January 2020 to June 2022. To ensure our insights reflect the 'new normal' rather than pandemic-era anomalies, we have excluded the primary COVID-19 period (March 2020–March 2021) from our post-pandemic trend analysis</a:t>
            </a:r>
          </a:p>
          <a:p>
            <a:endParaRPr lang="en-US" dirty="0"/>
          </a:p>
          <a:p>
            <a:r>
              <a:rPr lang="en-US" dirty="0"/>
              <a:t>Looking at the regional landscape, volumes post-April 2021 have been stable, ranging from 2.5 million to 5.5 million appointments monthly. We observed a consistent 'Autumn Surge' between September and November. This aligns with the seasonal uptick in respiratory and chronic conditions. Our top three busiest regions are the Midlands, North East &amp; Yorkshire, and London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D7D39-3C0E-7E03-02EF-A8EE4D40D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096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2836E-1068-1CA5-6ADD-43D6319A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28273-6542-ECDB-4A7D-E6118CEC3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0B776-F6F9-C43D-754A-8A72CCA9B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terms of the service mix, 90% of the appointment demand are accounted by General Practice, which explains why missed appointments for these services have been a great concern for NHS. Side note, we noticed that there is a significant amount of unmapped records and it's paramount for the NHS to address this eventually as it will limit how precisely we can target capacity and interventions in our plan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B58E-73D2-E2F6-D82A-3CD18928B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536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69054-4A88-AD23-7EA2-E47E4D58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53383-986D-7F4F-A02F-BC1F7E40A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63AB1-23C3-2913-C6FF-91B08159C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then dove into the national categories or "activity types" under GP - a broader segmentation of national categories, we understand that general consultations and planned reviews and clinics account for the vast majority (roughly 90%+), meaning that we will most likely be prioritizing resourcing these specific activity types over the others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A5A91-6646-FFE3-EBC6-E6C4E3AD3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067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DC41-B956-C5B8-8E5E-06BBE2EA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90C76-713D-E6A6-F97E-745B64E7F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64E05-508F-71C7-9DCE-33FB25E3F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seasonal trend analysis on the 3 highest volume regions reveal the same pattern we'd identified earlier - that being the Pre-Christmas Rush from Sep - Nov.  As you can see here, there is a steady rise in volume starting from August and peaks in November which aligns with the start of school’s fall semester, and the viral respiratory season.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an excellent forecast of where we should be proactively scaling staff before the winter surge begins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C9523-C794-EC2F-1B83-EECFD69DB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74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CE24D-F347-308A-AAC2-78444121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99381-C783-7A51-0881-E5FE2614B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682B2-F2E2-C873-3D7B-C4C52F6F5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When we look at missed appointments (DNAs), the data reveals interesting regional disparities. While the Midlands and London have high volumes of DNAs, the North West is particularly concerning—it records a disproportionately high DNA rate compared to other regions. In contrast, the North East &amp; Yorkshire manages high volumes with significantly higher attendance rates. This suggests that the issue is not just volume, but how effectively local ICBs manage their population density and appointment availability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77DA6-9FA2-69BC-C7F2-EEF744E98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90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AC74C-2972-F362-BB67-6B78376C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16A4F-F411-A064-69CE-748BF3A07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DE300-3BA0-3EB0-7DCE-D0CCE7641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Further more, you can see regions with the highest missed appointment volumes coincidentally are comprised of fewer sub-</a:t>
            </a:r>
            <a:r>
              <a:rPr lang="en-HK" dirty="0" err="1"/>
              <a:t>icb</a:t>
            </a:r>
            <a:r>
              <a:rPr lang="en-HK" dirty="0"/>
              <a:t> locations. North West, for example has 3 – Greater Manchester, Cheshire and Merseyside, and Lancashire and South Cumbria. </a:t>
            </a:r>
          </a:p>
          <a:p>
            <a:r>
              <a:rPr lang="en-HK" dirty="0"/>
              <a:t>Although London has 5 sub-</a:t>
            </a:r>
            <a:r>
              <a:rPr lang="en-HK" dirty="0" err="1"/>
              <a:t>icb</a:t>
            </a:r>
            <a:r>
              <a:rPr lang="en-HK" dirty="0"/>
              <a:t> locations, its population density is much more concentrated compared to its </a:t>
            </a:r>
            <a:r>
              <a:rPr lang="en-HK" dirty="0" err="1"/>
              <a:t>neighboring</a:t>
            </a:r>
            <a:r>
              <a:rPr lang="en-HK" dirty="0"/>
              <a:t> regions, which explains why it also has a higher appointment volumes.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31C7C-588B-90FA-9B1B-A0D0D511C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568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9998-8A88-92DA-DEC5-ECC2C282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1255D-7001-6FA5-B485-E7479B5EB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8C737-C74A-502F-EB21-D75DA9511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analyzing delivery modes, we found that Face-to-Face appointments—the backbone of our operations—suffer from a 4% DNA rate, which is 50 times higher than Telephone consultations. Virtual modes are clearly more resilient to 'no-shows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DA0D1-F7A1-79E0-2B53-72AA4B1E8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85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1255-A0FC-C433-9796-E24F8A99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D04B3-987E-FC02-1099-037EE5D0F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B4C10-9BFE-BCEE-ED12-176C8D521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Ironically enough, as we further investigated the DNA attendance rates over time, we noticed that all 3 modes, with the exception of Telephone experience a surge in missed appointments between Sep - Nov. This is a critical insight as it correlates directly with the annual increase in clinical demand during the Pre-Christmas rush. Capacity is leaked through DNAs at the exact moment the system is under the highest seasonal stress.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265D1-8683-BF5C-043A-999F9409F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013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B951-0981-C287-D75D-2BC3C286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C7F2C-EE72-2611-6EB4-FCCB9AAA0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6C05F-1B01-60F7-F5B2-F09262D54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importantly, we identified a 'Wait-Time Penalty.' Our analysis shows a positive correlation between lead time and non-attendance. Attendance is stable within 48 hours, but the DNA risk triples when appointments are scheduled beyond 2 days. Appointments booked over 28 days in advance see failure rates exceeding 10%. Shortening this booking-to-appointment window is a critical tool for preserving clinical capacity</a:t>
            </a:r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5D951-C2D5-9D90-7085-99D13934B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838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To stabilize capacity, I propose 4 key interventions: </a:t>
            </a:r>
          </a:p>
          <a:p>
            <a:endParaRPr lang="en-HK" dirty="0"/>
          </a:p>
          <a:p>
            <a:r>
              <a:rPr lang="en-US" dirty="0"/>
              <a:t>We identify Greater Manchester, Cheshire and Merseyside, and London ICBs as primary hotspots. We recommend a seasonal 'capacity buffer'—such as temporary staffing—during the September–November surge.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next slide will feature a suggested staff headcounts for all regions but before we proceed, a quick explanation on the calculations.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76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04EB6-136A-1EEB-5202-B10D7CC7D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BE672-57E4-04E4-8C80-F34B870CD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A5726-3FB8-D971-453A-2CF366ED0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0020F-32D1-4BBF-78D0-C1BCF9532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424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EFD2-28FB-731E-AE67-12AE13D6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D297-651D-FD36-0885-96CD8C3D1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0BB96-FE20-E2D5-5152-08D8455CC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The final 3 recommendations are targeted at how to reduce missed appointments </a:t>
            </a:r>
          </a:p>
          <a:p>
            <a:endParaRPr lang="en-HK" dirty="0"/>
          </a:p>
          <a:p>
            <a:r>
              <a:rPr lang="en-US" b="1" dirty="0"/>
              <a:t>Smart Scheduling:</a:t>
            </a:r>
            <a:r>
              <a:rPr lang="en-US" dirty="0"/>
              <a:t> "Integrate automated SMS reminders 24–48 hours before appointments. I further recommend a mandatory 'opt-in' confirmation step to proactively identify cancellations."</a:t>
            </a:r>
          </a:p>
          <a:p>
            <a:r>
              <a:rPr lang="en-US" b="1" dirty="0"/>
              <a:t>Digital-First Triage:</a:t>
            </a:r>
            <a:r>
              <a:rPr lang="en-US" dirty="0"/>
              <a:t> "Shift routine inquiries to Telephone or Video channels. This preserves our finite face-to-face capacity for complex, high-acuity cases."</a:t>
            </a:r>
          </a:p>
          <a:p>
            <a:r>
              <a:rPr lang="en-US" b="1" dirty="0"/>
              <a:t>Data Integrity:</a:t>
            </a:r>
            <a:r>
              <a:rPr lang="en-US" dirty="0"/>
              <a:t> "Standardize data entry protocols at the point of booking. We cannot manage the capacity we cannot accurately measure."</a:t>
            </a:r>
          </a:p>
          <a:p>
            <a:r>
              <a:rPr lang="en-US" dirty="0"/>
              <a:t>"By implementing these data-informed strategies, the NHS can move from reactive scheduling to proactive capacity management. Thank you for your time."</a:t>
            </a:r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A7E8C-C1EE-97C6-3265-F3EE1F05F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831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36" y="4434840"/>
            <a:ext cx="8402175" cy="1122202"/>
          </a:xfrm>
        </p:spPr>
        <p:txBody>
          <a:bodyPr/>
          <a:lstStyle/>
          <a:p>
            <a:pPr algn="r"/>
            <a:r>
              <a:rPr lang="en-US" sz="3000" b="1" dirty="0">
                <a:latin typeface="Poppins" panose="00000500000000000000" pitchFamily="2" charset="0"/>
                <a:cs typeface="Poppins" panose="00000500000000000000" pitchFamily="2" charset="0"/>
              </a:rPr>
              <a:t>DIAGNOSTIC ANALYSIS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0182" y="5586890"/>
            <a:ext cx="7247629" cy="396660"/>
          </a:xfrm>
        </p:spPr>
        <p:txBody>
          <a:bodyPr>
            <a:noAutofit/>
          </a:bodyPr>
          <a:lstStyle/>
          <a:p>
            <a:pPr algn="r"/>
            <a:r>
              <a:rPr lang="en-US" sz="1400" dirty="0">
                <a:latin typeface="Poppins Light" panose="00000400000000000000" pitchFamily="2" charset="0"/>
                <a:cs typeface="Poppins Light" panose="00000400000000000000" pitchFamily="2" charset="0"/>
              </a:rPr>
              <a:t>A case study on the UK’s National Health Service (NHS) 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E9F1B-AF0F-D446-0D9D-0B290C73E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165" y="2309524"/>
            <a:ext cx="5900692" cy="312564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Context and Objectives</a:t>
            </a:r>
            <a:b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endParaRPr lang="en-HK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Where the Pressure is: Overall Appointment Demand</a:t>
            </a:r>
            <a:b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endParaRPr lang="en-HK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Booking Gaps, Appointment Delivery Modes, and Regional DNA (Did Not Attend) Trends</a:t>
            </a:r>
            <a:b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endParaRPr lang="en-HK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Reducing Missed Appointments: Recommendations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HK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96F77-28A4-F6FF-B7EB-A6680C1D8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2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7517470-B6E3-2E53-0126-5424C9A05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165" y="369312"/>
            <a:ext cx="5472835" cy="1204912"/>
          </a:xfrm>
        </p:spPr>
        <p:txBody>
          <a:bodyPr>
            <a:normAutofit/>
          </a:bodyPr>
          <a:lstStyle/>
          <a:p>
            <a:r>
              <a:rPr lang="en-HK" sz="3000" b="1" dirty="0">
                <a:latin typeface="Poppins" panose="00000500000000000000" pitchFamily="2" charset="0"/>
                <a:cs typeface="Poppins" panose="00000500000000000000" pitchFamily="2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24074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23CB-2E2B-C7E1-86DD-13E902C4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165" y="369311"/>
            <a:ext cx="6200422" cy="1293233"/>
          </a:xfrm>
        </p:spPr>
        <p:txBody>
          <a:bodyPr>
            <a:noAutofit/>
          </a:bodyPr>
          <a:lstStyle/>
          <a:p>
            <a:r>
              <a:rPr lang="en-HK" sz="3000" b="1" dirty="0">
                <a:latin typeface="Poppins" panose="00000500000000000000" pitchFamily="2" charset="0"/>
                <a:cs typeface="Poppins" panose="00000500000000000000" pitchFamily="2" charset="0"/>
              </a:rPr>
              <a:t>Missed appointments: why this matters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67867-3F73-9988-12CF-4D52922DC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165" y="1903411"/>
            <a:ext cx="9148908" cy="4452939"/>
          </a:xfrm>
        </p:spPr>
        <p:txBody>
          <a:bodyPr>
            <a:normAutofit/>
          </a:bodyPr>
          <a:lstStyle/>
          <a:p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The National Health Service (NHS) must plan future infrastructure and resources to keep pace with a growing population. To budget effectively, it needs a clear understanding of how services are currently used across its network and where pressure on the system is greatest. </a:t>
            </a:r>
            <a:endParaRPr lang="en-US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r>
              <a:rPr lang="en-US" dirty="0">
                <a:latin typeface="Poppins Light" panose="00000400000000000000" pitchFamily="2" charset="0"/>
                <a:cs typeface="Poppins Light" panose="00000400000000000000" pitchFamily="2" charset="0"/>
              </a:rPr>
              <a:t>One significant concern is the capacity and cost wasted when patients miss their general practice (GP) appointments.</a:t>
            </a:r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 </a:t>
            </a:r>
          </a:p>
          <a:p>
            <a:br>
              <a:rPr lang="en-HK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HK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</a:p>
          <a:p>
            <a:pPr marL="342900" indent="-342900">
              <a:buFont typeface="+mj-lt"/>
              <a:buAutoNum type="arabicPeriod"/>
            </a:pPr>
            <a:r>
              <a:rPr lang="en-HK" dirty="0">
                <a:latin typeface="Poppins" panose="00000500000000000000" pitchFamily="2" charset="0"/>
                <a:cs typeface="Poppins" panose="00000500000000000000" pitchFamily="2" charset="0"/>
              </a:rPr>
              <a:t>Map Demand and wasted capacity</a:t>
            </a:r>
            <a:br>
              <a:rPr lang="en-HK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How are appointment volumes and wasted capacity from missed appointments distributed across regions and services, and which regions are most affected? </a:t>
            </a:r>
          </a:p>
          <a:p>
            <a:pPr marL="342900" indent="-342900">
              <a:buFont typeface="+mj-lt"/>
              <a:buAutoNum type="arabicPeriod"/>
            </a:pPr>
            <a:r>
              <a:rPr lang="en-HK" dirty="0">
                <a:latin typeface="Poppins" panose="00000500000000000000" pitchFamily="2" charset="0"/>
                <a:cs typeface="Poppins" panose="00000500000000000000" pitchFamily="2" charset="0"/>
              </a:rPr>
              <a:t>Understand drivers of missed appointments</a:t>
            </a:r>
            <a:b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What appointment features – such as mode, service type, and lead time – are associated with higher risk of a no-show? </a:t>
            </a:r>
          </a:p>
          <a:p>
            <a:pPr marL="342900" indent="-342900">
              <a:buFont typeface="+mj-lt"/>
              <a:buAutoNum type="arabicPeriod"/>
            </a:pPr>
            <a:r>
              <a:rPr lang="en-HK" dirty="0">
                <a:latin typeface="Poppins" panose="00000500000000000000" pitchFamily="2" charset="0"/>
                <a:cs typeface="Poppins" panose="00000500000000000000" pitchFamily="2" charset="0"/>
              </a:rPr>
              <a:t>Prioritize action</a:t>
            </a:r>
            <a:b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dirty="0">
                <a:latin typeface="Poppins Light" panose="00000400000000000000" pitchFamily="2" charset="0"/>
                <a:cs typeface="Poppins Light" panose="00000400000000000000" pitchFamily="2" charset="0"/>
              </a:rPr>
              <a:t>Where should the NHS prioritize interventions and capacity to reduce missed appointments and wasted capacity?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A7F0C-3305-DCA7-9FF2-7A6E1961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34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57E7-821B-EF0A-B4B4-4E8621E98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865" y="2571235"/>
            <a:ext cx="5360055" cy="1715531"/>
          </a:xfrm>
        </p:spPr>
        <p:txBody>
          <a:bodyPr/>
          <a:lstStyle/>
          <a:p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WHERE THE PRESSURE IS</a:t>
            </a:r>
          </a:p>
        </p:txBody>
      </p:sp>
    </p:spTree>
    <p:extLst>
      <p:ext uri="{BB962C8B-B14F-4D97-AF65-F5344CB8AC3E}">
        <p14:creationId xmlns:p14="http://schemas.microsoft.com/office/powerpoint/2010/main" val="3333940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A1D6D-51DA-14D1-C93A-E54E9E58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DE259A-0BBC-B87F-89C9-C465E43E6E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934"/>
          <a:stretch>
            <a:fillRect/>
          </a:stretch>
        </p:blipFill>
        <p:spPr>
          <a:xfrm>
            <a:off x="537182" y="1540349"/>
            <a:ext cx="7570291" cy="479413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E5197-0D6E-E959-306D-00419282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5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9A03B3-AA9F-6EF0-BFAD-60F54504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165" y="369312"/>
            <a:ext cx="5844598" cy="1204912"/>
          </a:xfrm>
        </p:spPr>
        <p:txBody>
          <a:bodyPr>
            <a:normAutofit/>
          </a:bodyPr>
          <a:lstStyle/>
          <a:p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The regional landscape: </a:t>
            </a:r>
            <a:b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</a:br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appointment demand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4DC68E5-0E75-7C6C-40F9-9E4D1A6C70CC}"/>
              </a:ext>
            </a:extLst>
          </p:cNvPr>
          <p:cNvSpPr txBox="1">
            <a:spLocks/>
          </p:cNvSpPr>
          <p:nvPr/>
        </p:nvSpPr>
        <p:spPr>
          <a:xfrm>
            <a:off x="8275782" y="1691842"/>
            <a:ext cx="3293053" cy="12637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Top 3 regions:</a:t>
            </a:r>
            <a:b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Midlands, North East &amp; Yorkshire, and London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Average monthly appointments post-covid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92A8BE-9585-874C-B865-2D14BD07C3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940" t="6931" r="546" b="67866"/>
          <a:stretch>
            <a:fillRect/>
          </a:stretch>
        </p:blipFill>
        <p:spPr>
          <a:xfrm>
            <a:off x="6467763" y="465480"/>
            <a:ext cx="1625600" cy="1410566"/>
          </a:xfrm>
          <a:prstGeom prst="rect">
            <a:avLst/>
          </a:prstGeom>
        </p:spPr>
      </p:pic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67ED72F1-1382-C1FE-0E0C-EEE5C4ACFA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1661098" y="2857788"/>
            <a:ext cx="1086427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Mar: Lockdown in force</a:t>
            </a:r>
          </a:p>
        </p:txBody>
      </p:sp>
      <p:sp>
        <p:nvSpPr>
          <p:cNvPr id="14" name="Date Placeholder 5">
            <a:extLst>
              <a:ext uri="{FF2B5EF4-FFF2-40B4-BE49-F238E27FC236}">
                <a16:creationId xmlns:a16="http://schemas.microsoft.com/office/drawing/2014/main" id="{9974A057-5070-BF2E-2687-AD4F1A3F72E4}"/>
              </a:ext>
            </a:extLst>
          </p:cNvPr>
          <p:cNvSpPr txBox="1">
            <a:spLocks/>
          </p:cNvSpPr>
          <p:nvPr/>
        </p:nvSpPr>
        <p:spPr>
          <a:xfrm>
            <a:off x="2090514" y="4141352"/>
            <a:ext cx="1086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Jun: Phased reopening of schools and shops 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E3F35A03-2593-6967-1197-421D42D210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87804" y="2201285"/>
            <a:ext cx="14345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Oct: 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wave of COVID</a:t>
            </a:r>
          </a:p>
          <a:p>
            <a:r>
              <a:rPr lang="en-US" dirty="0">
                <a:solidFill>
                  <a:schemeClr val="tx1"/>
                </a:solidFill>
              </a:rPr>
              <a:t>Nov: 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Lockdown begins </a:t>
            </a:r>
          </a:p>
        </p:txBody>
      </p:sp>
      <p:sp>
        <p:nvSpPr>
          <p:cNvPr id="16" name="Date Placeholder 5">
            <a:extLst>
              <a:ext uri="{FF2B5EF4-FFF2-40B4-BE49-F238E27FC236}">
                <a16:creationId xmlns:a16="http://schemas.microsoft.com/office/drawing/2014/main" id="{72DD3FA4-9F1D-AC63-E306-5856283BFE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25546" y="2492663"/>
            <a:ext cx="14345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Mar: End of COVID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3CF8042-624D-5BD1-1075-89C250ED8060}"/>
              </a:ext>
            </a:extLst>
          </p:cNvPr>
          <p:cNvGraphicFramePr>
            <a:graphicFrameLocks noGrp="1"/>
          </p:cNvGraphicFramePr>
          <p:nvPr/>
        </p:nvGraphicFramePr>
        <p:xfrm>
          <a:off x="8610600" y="3036476"/>
          <a:ext cx="2810773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364">
                  <a:extLst>
                    <a:ext uri="{9D8B030D-6E8A-4147-A177-3AD203B41FA5}">
                      <a16:colId xmlns:a16="http://schemas.microsoft.com/office/drawing/2014/main" val="1990386411"/>
                    </a:ext>
                  </a:extLst>
                </a:gridCol>
                <a:gridCol w="1533236">
                  <a:extLst>
                    <a:ext uri="{9D8B030D-6E8A-4147-A177-3AD203B41FA5}">
                      <a16:colId xmlns:a16="http://schemas.microsoft.com/office/drawing/2014/main" val="3671361492"/>
                    </a:ext>
                  </a:extLst>
                </a:gridCol>
                <a:gridCol w="1058173">
                  <a:extLst>
                    <a:ext uri="{9D8B030D-6E8A-4147-A177-3AD203B41FA5}">
                      <a16:colId xmlns:a16="http://schemas.microsoft.com/office/drawing/2014/main" val="3816774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Midlands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5,104,506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544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NE &amp; Yorkshire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4,717,111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28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London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3,892,947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24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South 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3,575,477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707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North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3,180,259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02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East of England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3,038,537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050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South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2,888,396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437126"/>
                  </a:ext>
                </a:extLst>
              </a:tr>
            </a:tbl>
          </a:graphicData>
        </a:graphic>
      </p:graphicFrame>
      <p:sp>
        <p:nvSpPr>
          <p:cNvPr id="20" name="Date Placeholder 5">
            <a:extLst>
              <a:ext uri="{FF2B5EF4-FFF2-40B4-BE49-F238E27FC236}">
                <a16:creationId xmlns:a16="http://schemas.microsoft.com/office/drawing/2014/main" id="{C1C9C452-CADA-2894-2712-E6CDEC3EF13E}"/>
              </a:ext>
            </a:extLst>
          </p:cNvPr>
          <p:cNvSpPr txBox="1">
            <a:spLocks/>
          </p:cNvSpPr>
          <p:nvPr/>
        </p:nvSpPr>
        <p:spPr>
          <a:xfrm>
            <a:off x="5290582" y="5298236"/>
            <a:ext cx="14345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Pre-Christmas Rush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Sep - Nov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FDE9C8-B6DA-83D6-53F6-D09A0EA5A6A3}"/>
              </a:ext>
            </a:extLst>
          </p:cNvPr>
          <p:cNvSpPr/>
          <p:nvPr/>
        </p:nvSpPr>
        <p:spPr>
          <a:xfrm>
            <a:off x="5506891" y="1876046"/>
            <a:ext cx="589109" cy="4151043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20834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8671-6B68-BE6D-7899-58796CD4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4322E-E657-487C-7875-A81005CB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6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D8AD913-A30C-D387-E1C8-17644052C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165" y="538713"/>
            <a:ext cx="5472835" cy="604082"/>
          </a:xfrm>
        </p:spPr>
        <p:txBody>
          <a:bodyPr anchor="b">
            <a:normAutofit/>
          </a:bodyPr>
          <a:lstStyle/>
          <a:p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SERVICE MIX:</a:t>
            </a:r>
            <a:endParaRPr lang="en-HK" sz="3000" dirty="0">
              <a:solidFill>
                <a:schemeClr val="tx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D0E5817-6594-727E-0CAD-F237ADD4245E}"/>
              </a:ext>
            </a:extLst>
          </p:cNvPr>
          <p:cNvSpPr txBox="1">
            <a:spLocks/>
          </p:cNvSpPr>
          <p:nvPr/>
        </p:nvSpPr>
        <p:spPr>
          <a:xfrm>
            <a:off x="8275782" y="1691842"/>
            <a:ext cx="3293053" cy="3037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General Practice (GP)</a:t>
            </a:r>
            <a:b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~90% - 93%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Primary Care Networks</a:t>
            </a:r>
            <a:b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~1.6% - 3.0%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Extended Access Provision</a:t>
            </a:r>
            <a:b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~0.6% - 1.2%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Other services</a:t>
            </a:r>
            <a:b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~1.1% - 2.8%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Unmapped care</a:t>
            </a:r>
            <a:b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3.0% - 4.7% (e.g. ~156K in London)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3DDEA5-6DDC-96AA-65A6-804153A62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7" b="3646"/>
          <a:stretch>
            <a:fillRect/>
          </a:stretch>
        </p:blipFill>
        <p:spPr>
          <a:xfrm>
            <a:off x="623165" y="1590530"/>
            <a:ext cx="7183291" cy="4999470"/>
          </a:xfrm>
          <a:prstGeom prst="rect">
            <a:avLst/>
          </a:prstGeom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5DF7F-0FEA-4FA9-044C-2AF3F55793A1}"/>
              </a:ext>
            </a:extLst>
          </p:cNvPr>
          <p:cNvSpPr txBox="1">
            <a:spLocks/>
          </p:cNvSpPr>
          <p:nvPr/>
        </p:nvSpPr>
        <p:spPr>
          <a:xfrm>
            <a:off x="623165" y="1109687"/>
            <a:ext cx="8658487" cy="4050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2000" dirty="0">
                <a:latin typeface="Poppins Bold" panose="00000800000000000000" pitchFamily="2" charset="0"/>
                <a:cs typeface="Poppins Bold" panose="00000800000000000000" pitchFamily="2" charset="0"/>
              </a:rPr>
              <a:t>GP accounts for ~90% of appointment demand across regions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DE2856-8A48-ACE3-0B49-B6D41828C5D4}"/>
              </a:ext>
            </a:extLst>
          </p:cNvPr>
          <p:cNvSpPr txBox="1">
            <a:spLocks/>
          </p:cNvSpPr>
          <p:nvPr/>
        </p:nvSpPr>
        <p:spPr>
          <a:xfrm>
            <a:off x="8574460" y="4631039"/>
            <a:ext cx="2994375" cy="13862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This unmapped share may hide real pressure</a:t>
            </a:r>
            <a:r>
              <a:rPr lang="en-US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 in specific service lines and will limit how precisely we can target capacity and interventions.</a:t>
            </a:r>
            <a:endParaRPr lang="en-HK" sz="13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pic>
        <p:nvPicPr>
          <p:cNvPr id="18" name="Graphic 17" descr="Warning with solid fill">
            <a:extLst>
              <a:ext uri="{FF2B5EF4-FFF2-40B4-BE49-F238E27FC236}">
                <a16:creationId xmlns:a16="http://schemas.microsoft.com/office/drawing/2014/main" id="{375A8654-50BB-2A26-CDCE-1BF2696EB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1388" y="4690403"/>
            <a:ext cx="298678" cy="29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292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63D34-1149-9829-BD3C-413D3E6A0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F122B-56D8-C33F-34D7-52DF8E8E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7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AB92DF-78F8-B046-F247-ED9FDCDBB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165" y="538713"/>
            <a:ext cx="5472835" cy="604082"/>
          </a:xfrm>
        </p:spPr>
        <p:txBody>
          <a:bodyPr anchor="b">
            <a:normAutofit/>
          </a:bodyPr>
          <a:lstStyle/>
          <a:p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GP Activity profiling</a:t>
            </a:r>
            <a:endParaRPr lang="en-HK" sz="3000" dirty="0">
              <a:solidFill>
                <a:schemeClr val="tx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6C7DB8-FB3A-E218-EE00-C192C2866EEC}"/>
              </a:ext>
            </a:extLst>
          </p:cNvPr>
          <p:cNvSpPr txBox="1">
            <a:spLocks/>
          </p:cNvSpPr>
          <p:nvPr/>
        </p:nvSpPr>
        <p:spPr>
          <a:xfrm>
            <a:off x="6734176" y="1638300"/>
            <a:ext cx="4834660" cy="309101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Core GP Activity Types: </a:t>
            </a:r>
            <a:b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General Consultations and Planned Reviews &amp; Clinics account for the vast majority (roughly 90%+) of all activities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Consistent Proportions:</a:t>
            </a:r>
            <a:b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Despite the difference in total volume, the ratio of activity types is remarkably similar across the country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Group &amp; Social Support and Care Home &amp; Home Visits, while clinically vital, they represent a small portion of the total appointment volume in GP</a:t>
            </a:r>
          </a:p>
          <a:p>
            <a:endParaRPr lang="en-HK" sz="13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033A2-BAD7-65C4-8974-4DFDBFFDB579}"/>
              </a:ext>
            </a:extLst>
          </p:cNvPr>
          <p:cNvSpPr txBox="1">
            <a:spLocks/>
          </p:cNvSpPr>
          <p:nvPr/>
        </p:nvSpPr>
        <p:spPr>
          <a:xfrm>
            <a:off x="623165" y="1109687"/>
            <a:ext cx="8658487" cy="4050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2000" dirty="0">
                <a:latin typeface="Poppins Bold" panose="00000800000000000000" pitchFamily="2" charset="0"/>
                <a:cs typeface="Poppins Bold" panose="00000800000000000000" pitchFamily="2" charset="0"/>
              </a:rPr>
              <a:t>Monthly Regional Variation in GP Consultation Types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3458AA-37DA-5998-D922-1E9344416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4" y="1514748"/>
            <a:ext cx="5986320" cy="528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33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E2412-37B1-3640-BD39-B0FA51406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965F1-A0E0-B4EB-A166-5326D271E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3237CF4-5109-487B-34EE-13A56BCE8CFA}"/>
              </a:ext>
            </a:extLst>
          </p:cNvPr>
          <p:cNvSpPr txBox="1">
            <a:spLocks/>
          </p:cNvSpPr>
          <p:nvPr/>
        </p:nvSpPr>
        <p:spPr>
          <a:xfrm>
            <a:off x="7059562" y="1540897"/>
            <a:ext cx="4499441" cy="49980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1300" b="1" dirty="0">
                <a:latin typeface="Poppins" panose="00000500000000000000" pitchFamily="2" charset="0"/>
                <a:cs typeface="Poppins" panose="00000500000000000000" pitchFamily="2" charset="0"/>
              </a:rPr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Consistent ‘M-shaped’ seasonal pattern across all 3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Aug – Nov: </a:t>
            </a: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steady rise in volume, peaking in Nov, aligned with school return and viral respiratory season (Pre-Christmas Rush)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Dec:</a:t>
            </a: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 sharp drop in appointments, likely reflecting reduced capacity over the holiday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Jan – Mar: </a:t>
            </a: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rebound in demand and activity, driven by deferred Dec care, peak winter illness, and year-end push to complete reviews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Apr: </a:t>
            </a: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further dip, mirroring Dec, likely linked to Easter holiday-related capacity constraints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FBA5613-04D7-ED77-D70F-D864402A6738}"/>
              </a:ext>
            </a:extLst>
          </p:cNvPr>
          <p:cNvSpPr txBox="1">
            <a:spLocks/>
          </p:cNvSpPr>
          <p:nvPr/>
        </p:nvSpPr>
        <p:spPr>
          <a:xfrm>
            <a:off x="623165" y="388976"/>
            <a:ext cx="8176706" cy="7712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TREND IN GP APPOINTMENT DEMAND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2F7096-C9FA-A694-17D5-741E1C98A1BB}"/>
              </a:ext>
            </a:extLst>
          </p:cNvPr>
          <p:cNvSpPr txBox="1">
            <a:spLocks/>
          </p:cNvSpPr>
          <p:nvPr/>
        </p:nvSpPr>
        <p:spPr>
          <a:xfrm>
            <a:off x="632997" y="1130710"/>
            <a:ext cx="8658487" cy="4050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2000" dirty="0">
                <a:latin typeface="Poppins Bold" panose="00000800000000000000" pitchFamily="2" charset="0"/>
                <a:cs typeface="Poppins Bold" panose="00000800000000000000" pitchFamily="2" charset="0"/>
              </a:rPr>
              <a:t>Focusing on the 3 highest-volume regions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C84881-0350-D341-2E01-A940B3D8D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30"/>
          <a:stretch>
            <a:fillRect/>
          </a:stretch>
        </p:blipFill>
        <p:spPr>
          <a:xfrm>
            <a:off x="632997" y="1540897"/>
            <a:ext cx="6229655" cy="49980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637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7569-1C49-BB32-733D-D3CF84A2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883E-B3A3-7671-C843-7E4063C03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865" y="2571235"/>
            <a:ext cx="5360055" cy="1715531"/>
          </a:xfrm>
        </p:spPr>
        <p:txBody>
          <a:bodyPr/>
          <a:lstStyle/>
          <a:p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Booking Gaps, delivery modes, and regional </a:t>
            </a:r>
            <a:r>
              <a:rPr lang="en-HK" sz="3000" dirty="0" err="1">
                <a:latin typeface="Poppins Bold" panose="00000800000000000000" pitchFamily="2" charset="0"/>
                <a:cs typeface="Poppins Bold" panose="00000800000000000000" pitchFamily="2" charset="0"/>
              </a:rPr>
              <a:t>dna</a:t>
            </a:r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 trends</a:t>
            </a:r>
          </a:p>
        </p:txBody>
      </p:sp>
    </p:spTree>
    <p:extLst>
      <p:ext uri="{BB962C8B-B14F-4D97-AF65-F5344CB8AC3E}">
        <p14:creationId xmlns:p14="http://schemas.microsoft.com/office/powerpoint/2010/main" val="297429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58BED-8E6C-C22E-4D23-F3AA070E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56A447F-D126-A7E3-7B25-9AB3A3175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5" y="1593694"/>
            <a:ext cx="7178101" cy="4998329"/>
          </a:xfrm>
          <a:prstGeom prst="rect">
            <a:avLst/>
          </a:prstGeom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69C88-92B0-0A4D-C2EA-FA60C0193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22A796-08A1-76CB-5543-E543E3313256}"/>
              </a:ext>
            </a:extLst>
          </p:cNvPr>
          <p:cNvSpPr txBox="1">
            <a:spLocks/>
          </p:cNvSpPr>
          <p:nvPr/>
        </p:nvSpPr>
        <p:spPr>
          <a:xfrm>
            <a:off x="623165" y="538712"/>
            <a:ext cx="7643954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Where capacity is wasted: </a:t>
            </a:r>
            <a:b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</a:br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missed GP appointments</a:t>
            </a:r>
            <a:endParaRPr lang="en-HK" sz="3000" dirty="0">
              <a:solidFill>
                <a:schemeClr val="tx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B00EB5B-11C8-01F5-3E43-3DCC89E71D8E}"/>
              </a:ext>
            </a:extLst>
          </p:cNvPr>
          <p:cNvSpPr txBox="1">
            <a:spLocks/>
          </p:cNvSpPr>
          <p:nvPr/>
        </p:nvSpPr>
        <p:spPr>
          <a:xfrm>
            <a:off x="7993625" y="1592553"/>
            <a:ext cx="3844413" cy="33383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Attendance is high overall</a:t>
            </a:r>
            <a:b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~95% of appointments are attended each month across regions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The remaining ~5% comprises missed appointments (DNA – Did Not Attend) and those recorded as Unknown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London and North West show the highest rate of DNA, with the Midlands slightly above the national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North East and Yorkshire, despite having the second-largest appointment volume, records one of the lowest DNA rates, ranking third-lowest overall 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AE884B4-3AA1-E222-3EA7-887B2F6A51D2}"/>
              </a:ext>
            </a:extLst>
          </p:cNvPr>
          <p:cNvSpPr txBox="1">
            <a:spLocks/>
          </p:cNvSpPr>
          <p:nvPr/>
        </p:nvSpPr>
        <p:spPr>
          <a:xfrm>
            <a:off x="8267119" y="4930876"/>
            <a:ext cx="3570919" cy="1425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Unknown records are substantial, ranging from 32.6k – 77.7k for all regions</a:t>
            </a:r>
            <a:br>
              <a:rPr lang="en-US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br>
              <a:rPr lang="en-US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</a:br>
            <a:r>
              <a:rPr lang="en-US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This is concerning, as it limits our ability to reliably identify true no-shows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D10354-CDD1-94EA-F522-AB911602383F}"/>
              </a:ext>
            </a:extLst>
          </p:cNvPr>
          <p:cNvSpPr/>
          <p:nvPr/>
        </p:nvSpPr>
        <p:spPr>
          <a:xfrm>
            <a:off x="3685883" y="2528905"/>
            <a:ext cx="1598039" cy="55380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A6D5D7-1663-6B4E-93F1-1785D2625672}"/>
              </a:ext>
            </a:extLst>
          </p:cNvPr>
          <p:cNvSpPr/>
          <p:nvPr/>
        </p:nvSpPr>
        <p:spPr>
          <a:xfrm>
            <a:off x="3673291" y="4285305"/>
            <a:ext cx="1600492" cy="589935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B303A8-BEFB-E7A2-0EE9-6184CD96FC75}"/>
              </a:ext>
            </a:extLst>
          </p:cNvPr>
          <p:cNvSpPr/>
          <p:nvPr/>
        </p:nvSpPr>
        <p:spPr>
          <a:xfrm>
            <a:off x="3685883" y="4845008"/>
            <a:ext cx="1600492" cy="589935"/>
          </a:xfrm>
          <a:prstGeom prst="rect">
            <a:avLst/>
          </a:prstGeom>
          <a:solidFill>
            <a:srgbClr val="FF993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A6AFC8-3D5A-1D8B-BD56-05EE477D29D6}"/>
              </a:ext>
            </a:extLst>
          </p:cNvPr>
          <p:cNvSpPr/>
          <p:nvPr/>
        </p:nvSpPr>
        <p:spPr>
          <a:xfrm>
            <a:off x="3688336" y="1966829"/>
            <a:ext cx="1598039" cy="553808"/>
          </a:xfrm>
          <a:prstGeom prst="rect">
            <a:avLst/>
          </a:prstGeom>
          <a:solidFill>
            <a:srgbClr val="FFCC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dirty="0"/>
          </a:p>
        </p:txBody>
      </p:sp>
      <p:pic>
        <p:nvPicPr>
          <p:cNvPr id="29" name="Graphic 28" descr="Warning with solid fill">
            <a:extLst>
              <a:ext uri="{FF2B5EF4-FFF2-40B4-BE49-F238E27FC236}">
                <a16:creationId xmlns:a16="http://schemas.microsoft.com/office/drawing/2014/main" id="{A6E46D11-55F3-8B66-6887-A10E1DC1D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68441" y="4930359"/>
            <a:ext cx="298678" cy="2986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9B017A9-D602-47C9-EFEE-1913B33D3193}"/>
              </a:ext>
            </a:extLst>
          </p:cNvPr>
          <p:cNvSpPr/>
          <p:nvPr/>
        </p:nvSpPr>
        <p:spPr>
          <a:xfrm>
            <a:off x="2015623" y="4836382"/>
            <a:ext cx="1671484" cy="589935"/>
          </a:xfrm>
          <a:prstGeom prst="rect">
            <a:avLst/>
          </a:prstGeom>
          <a:solidFill>
            <a:srgbClr val="CC66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1DA68A-DCB2-658E-8882-C34F811AEAEB}"/>
              </a:ext>
            </a:extLst>
          </p:cNvPr>
          <p:cNvSpPr/>
          <p:nvPr/>
        </p:nvSpPr>
        <p:spPr>
          <a:xfrm>
            <a:off x="2001807" y="2517958"/>
            <a:ext cx="1671484" cy="571833"/>
          </a:xfrm>
          <a:prstGeom prst="rect">
            <a:avLst/>
          </a:prstGeom>
          <a:solidFill>
            <a:srgbClr val="CCCC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1B5780-E6F3-F803-CBE3-6511D9E4E39D}"/>
              </a:ext>
            </a:extLst>
          </p:cNvPr>
          <p:cNvSpPr/>
          <p:nvPr/>
        </p:nvSpPr>
        <p:spPr>
          <a:xfrm>
            <a:off x="2015623" y="4262433"/>
            <a:ext cx="1671484" cy="589935"/>
          </a:xfrm>
          <a:prstGeom prst="rect">
            <a:avLst/>
          </a:prstGeom>
          <a:solidFill>
            <a:srgbClr val="CCCC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3235CC-4A75-4724-2B3A-0034B8EAEEB6}"/>
              </a:ext>
            </a:extLst>
          </p:cNvPr>
          <p:cNvSpPr/>
          <p:nvPr/>
        </p:nvSpPr>
        <p:spPr>
          <a:xfrm>
            <a:off x="2015623" y="3704017"/>
            <a:ext cx="1671484" cy="556095"/>
          </a:xfrm>
          <a:prstGeom prst="rect">
            <a:avLst/>
          </a:prstGeom>
          <a:solidFill>
            <a:srgbClr val="9966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13B942-35B7-C707-B044-66F2A0C7FA09}"/>
              </a:ext>
            </a:extLst>
          </p:cNvPr>
          <p:cNvSpPr/>
          <p:nvPr/>
        </p:nvSpPr>
        <p:spPr>
          <a:xfrm>
            <a:off x="2015623" y="3097679"/>
            <a:ext cx="1671484" cy="589935"/>
          </a:xfrm>
          <a:prstGeom prst="rect">
            <a:avLst/>
          </a:prstGeom>
          <a:solidFill>
            <a:srgbClr val="9966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92481C-D493-FE35-DEB7-351A00053450}"/>
              </a:ext>
            </a:extLst>
          </p:cNvPr>
          <p:cNvSpPr/>
          <p:nvPr/>
        </p:nvSpPr>
        <p:spPr>
          <a:xfrm>
            <a:off x="2008715" y="5417965"/>
            <a:ext cx="1671484" cy="589935"/>
          </a:xfrm>
          <a:prstGeom prst="rect">
            <a:avLst/>
          </a:prstGeom>
          <a:solidFill>
            <a:srgbClr val="9966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615163-D10D-B9B1-B9CC-5156B95EEF42}"/>
              </a:ext>
            </a:extLst>
          </p:cNvPr>
          <p:cNvSpPr/>
          <p:nvPr/>
        </p:nvSpPr>
        <p:spPr>
          <a:xfrm>
            <a:off x="3673291" y="5423912"/>
            <a:ext cx="1600492" cy="589935"/>
          </a:xfrm>
          <a:prstGeom prst="rect">
            <a:avLst/>
          </a:prstGeom>
          <a:solidFill>
            <a:srgbClr val="FF993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E9966-B181-D3F4-BFDA-BA4FB821327F}"/>
              </a:ext>
            </a:extLst>
          </p:cNvPr>
          <p:cNvSpPr/>
          <p:nvPr/>
        </p:nvSpPr>
        <p:spPr>
          <a:xfrm>
            <a:off x="3680199" y="3702579"/>
            <a:ext cx="1618768" cy="589935"/>
          </a:xfrm>
          <a:prstGeom prst="rect">
            <a:avLst/>
          </a:prstGeom>
          <a:solidFill>
            <a:srgbClr val="FF993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C60AD2-C466-86D4-F253-C4B4EB22CD37}"/>
              </a:ext>
            </a:extLst>
          </p:cNvPr>
          <p:cNvSpPr/>
          <p:nvPr/>
        </p:nvSpPr>
        <p:spPr>
          <a:xfrm>
            <a:off x="3673291" y="3099541"/>
            <a:ext cx="1600492" cy="589935"/>
          </a:xfrm>
          <a:prstGeom prst="rect">
            <a:avLst/>
          </a:prstGeom>
          <a:solidFill>
            <a:srgbClr val="FF993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19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A8D63-8E56-3F8A-9202-DFC90D53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1F937-71CA-790B-5783-72D0E692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11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7801FF-3E66-F725-A6FD-FC038FCCD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637"/>
          <a:stretch>
            <a:fillRect/>
          </a:stretch>
        </p:blipFill>
        <p:spPr>
          <a:xfrm>
            <a:off x="623165" y="1592553"/>
            <a:ext cx="4119455" cy="5179763"/>
          </a:xfrm>
          <a:prstGeom prst="rect">
            <a:avLst/>
          </a:prstGeom>
          <a:ln>
            <a:noFill/>
          </a:ln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534E02E-CC1E-B35E-87B0-58DFCDD07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92353"/>
              </p:ext>
            </p:extLst>
          </p:nvPr>
        </p:nvGraphicFramePr>
        <p:xfrm>
          <a:off x="7971520" y="1614220"/>
          <a:ext cx="3492910" cy="47306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923">
                  <a:extLst>
                    <a:ext uri="{9D8B030D-6E8A-4147-A177-3AD203B41FA5}">
                      <a16:colId xmlns:a16="http://schemas.microsoft.com/office/drawing/2014/main" val="1990386411"/>
                    </a:ext>
                  </a:extLst>
                </a:gridCol>
                <a:gridCol w="2182761">
                  <a:extLst>
                    <a:ext uri="{9D8B030D-6E8A-4147-A177-3AD203B41FA5}">
                      <a16:colId xmlns:a16="http://schemas.microsoft.com/office/drawing/2014/main" val="3671361492"/>
                    </a:ext>
                  </a:extLst>
                </a:gridCol>
                <a:gridCol w="983226">
                  <a:extLst>
                    <a:ext uri="{9D8B030D-6E8A-4147-A177-3AD203B41FA5}">
                      <a16:colId xmlns:a16="http://schemas.microsoft.com/office/drawing/2014/main" val="3816774248"/>
                    </a:ext>
                  </a:extLst>
                </a:gridCol>
              </a:tblGrid>
              <a:tr h="445697">
                <a:tc gridSpan="3">
                  <a:txBody>
                    <a:bodyPr/>
                    <a:lstStyle/>
                    <a:p>
                      <a:r>
                        <a:rPr lang="en-HK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Top 10 ICBs by missed appointments</a:t>
                      </a:r>
                      <a:br>
                        <a:rPr lang="en-HK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</a:br>
                      <a:r>
                        <a:rPr lang="en-HK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(April 2021 – Jun 2022)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HK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HK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838225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Greater Manchester ICB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363,897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544668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Cheshire and Merseyside ICB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294,319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286661"/>
                  </a:ext>
                </a:extLst>
              </a:tr>
              <a:tr h="361510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North East London ICB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256,358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624960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South East London ICB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240,376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707140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North West London ICB</a:t>
                      </a:r>
                      <a:endParaRPr lang="en-HK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237,697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021258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North East and North Cumbria ICB</a:t>
                      </a:r>
                      <a:endParaRPr lang="en-HK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223,759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050203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South West London ICB</a:t>
                      </a:r>
                      <a:endParaRPr lang="en-HK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212,325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437126"/>
                  </a:ext>
                </a:extLst>
              </a:tr>
              <a:tr h="445697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North Central London ICB</a:t>
                      </a:r>
                      <a:endParaRPr lang="en-HK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190,888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619301"/>
                  </a:ext>
                </a:extLst>
              </a:tr>
              <a:tr h="361510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Kent and Medway ICB</a:t>
                      </a:r>
                      <a:endParaRPr lang="en-HK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174,094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669553"/>
                  </a:ext>
                </a:extLst>
              </a:tr>
              <a:tr h="361510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NHS Black Country ICB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162,029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06187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705B36C-16AD-834B-3C71-A73DA614799D}"/>
              </a:ext>
            </a:extLst>
          </p:cNvPr>
          <p:cNvSpPr txBox="1">
            <a:spLocks/>
          </p:cNvSpPr>
          <p:nvPr/>
        </p:nvSpPr>
        <p:spPr>
          <a:xfrm>
            <a:off x="623165" y="538712"/>
            <a:ext cx="7643954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ICB Hotspots:</a:t>
            </a:r>
          </a:p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Where Capacity Is Most at Risk</a:t>
            </a:r>
            <a:endParaRPr lang="en-HK" sz="3000" dirty="0">
              <a:solidFill>
                <a:schemeClr val="tx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9CEDA3-F32E-E085-BC00-A01AB2FFD1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842" t="3306" b="17280"/>
          <a:stretch>
            <a:fillRect/>
          </a:stretch>
        </p:blipFill>
        <p:spPr>
          <a:xfrm>
            <a:off x="4906299" y="1592553"/>
            <a:ext cx="2768996" cy="512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34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9718-1AEB-3529-3808-0A9F93C8E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1543C51-4F62-7C9C-DD7E-7B4EC37C0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4" y="1575544"/>
            <a:ext cx="6636933" cy="5282456"/>
          </a:xfrm>
          <a:prstGeom prst="rect">
            <a:avLst/>
          </a:prstGeom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16F3-3078-1956-7E40-A6A57210A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12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A360CC-64A0-A3B2-4010-9D88163AD4C0}"/>
              </a:ext>
            </a:extLst>
          </p:cNvPr>
          <p:cNvSpPr txBox="1">
            <a:spLocks/>
          </p:cNvSpPr>
          <p:nvPr/>
        </p:nvSpPr>
        <p:spPr>
          <a:xfrm>
            <a:off x="7570838" y="1256456"/>
            <a:ext cx="3997998" cy="52824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Face-to-Face and Telephone consultations constitutes 98% of the total appointments, making them the backbone of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While higher DNA counts are expected in high-volume modes, the </a:t>
            </a: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no-attendance rate</a:t>
            </a: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 for Face-to-Face (4%) is </a:t>
            </a:r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50x higher</a:t>
            </a: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 than Telephone (0.08%)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Home Visits and Video/Online appointment modes account for ~2% of volume but maintain near-perfect attendance with rates below 0.1%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Overall attendance pattern suggests that virtual modes are significantly more resilient to no-shows than physical consultation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FD69F-3C57-F6E0-671E-8957910D8C5A}"/>
              </a:ext>
            </a:extLst>
          </p:cNvPr>
          <p:cNvSpPr txBox="1">
            <a:spLocks/>
          </p:cNvSpPr>
          <p:nvPr/>
        </p:nvSpPr>
        <p:spPr>
          <a:xfrm>
            <a:off x="623165" y="538712"/>
            <a:ext cx="7643954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The </a:t>
            </a:r>
            <a:r>
              <a:rPr lang="en-US" sz="3000" dirty="0" err="1">
                <a:latin typeface="Poppins Bold" panose="00000800000000000000" pitchFamily="2" charset="0"/>
                <a:cs typeface="Poppins Bold" panose="00000800000000000000" pitchFamily="2" charset="0"/>
              </a:rPr>
              <a:t>dna</a:t>
            </a:r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 gap:</a:t>
            </a:r>
          </a:p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Physical vs virtual</a:t>
            </a:r>
            <a:endParaRPr lang="en-HK" sz="3000" dirty="0">
              <a:solidFill>
                <a:schemeClr val="tx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369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8FE86-C56D-897A-A546-572B8DDD4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96E8-B92F-5900-5F76-E83221E4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13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0FBC0E-C36F-AE53-121F-BDE8BED3E7BD}"/>
              </a:ext>
            </a:extLst>
          </p:cNvPr>
          <p:cNvSpPr txBox="1">
            <a:spLocks/>
          </p:cNvSpPr>
          <p:nvPr/>
        </p:nvSpPr>
        <p:spPr>
          <a:xfrm>
            <a:off x="8458200" y="1256456"/>
            <a:ext cx="3576484" cy="5203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Between Sep – Nov, all delivery modes – excluding Telephone – experienced a synchronized surge in missed appointments, peaking during the onset of winter pressures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Face-to-Face consultations saw the most drastic impact, with an 80% uptick in DNAs at the October peak compared to August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Despite their lower volume, Video/Online appointments mirrored this trend, showing a ~70% increase in missed sessions over the same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This spike correlates directly with the annual increase in clinical demand. Capacity is ‘leaked’ through DNAs at the exact moment the system is under the highest seasonal stress.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582EF4-F064-D29E-E398-AEB41AC77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54" y="1545587"/>
            <a:ext cx="7730906" cy="5282917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17F53D-208D-97E0-F941-54F9A0AAF074}"/>
              </a:ext>
            </a:extLst>
          </p:cNvPr>
          <p:cNvSpPr/>
          <p:nvPr/>
        </p:nvSpPr>
        <p:spPr>
          <a:xfrm>
            <a:off x="2577290" y="2035683"/>
            <a:ext cx="648103" cy="176189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C16007-BF79-496D-84A9-F6923B753846}"/>
              </a:ext>
            </a:extLst>
          </p:cNvPr>
          <p:cNvSpPr/>
          <p:nvPr/>
        </p:nvSpPr>
        <p:spPr>
          <a:xfrm>
            <a:off x="6259059" y="2045515"/>
            <a:ext cx="648103" cy="176189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B63204-0F0E-CC51-6D2B-7BD2801CC9C4}"/>
              </a:ext>
            </a:extLst>
          </p:cNvPr>
          <p:cNvSpPr/>
          <p:nvPr/>
        </p:nvSpPr>
        <p:spPr>
          <a:xfrm>
            <a:off x="2576877" y="4516004"/>
            <a:ext cx="648103" cy="176189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B1CD5-3ABC-7742-2391-1A9A3C405A7B}"/>
              </a:ext>
            </a:extLst>
          </p:cNvPr>
          <p:cNvSpPr/>
          <p:nvPr/>
        </p:nvSpPr>
        <p:spPr>
          <a:xfrm>
            <a:off x="6259059" y="4510124"/>
            <a:ext cx="648103" cy="176189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323D4091-2073-C823-D7BC-375B2599AF42}"/>
              </a:ext>
            </a:extLst>
          </p:cNvPr>
          <p:cNvSpPr txBox="1">
            <a:spLocks/>
          </p:cNvSpPr>
          <p:nvPr/>
        </p:nvSpPr>
        <p:spPr>
          <a:xfrm>
            <a:off x="2478222" y="2909312"/>
            <a:ext cx="14345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Pre-Christmas Rush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Sep - Nov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C011D5-67FF-DF9D-FD80-69F85F1F2EF5}"/>
              </a:ext>
            </a:extLst>
          </p:cNvPr>
          <p:cNvSpPr txBox="1">
            <a:spLocks/>
          </p:cNvSpPr>
          <p:nvPr/>
        </p:nvSpPr>
        <p:spPr>
          <a:xfrm>
            <a:off x="623165" y="538712"/>
            <a:ext cx="7643954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SEASONAL VOLATILITY:</a:t>
            </a:r>
          </a:p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THE Q3 CAPACITY LEAKAGE</a:t>
            </a:r>
            <a:endParaRPr lang="en-HK" sz="3000" dirty="0">
              <a:solidFill>
                <a:schemeClr val="tx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92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F9479-F4E5-4104-20F7-1B3D794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805C1-C3E7-88D4-5E56-7D95747E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AC9205-229A-0895-E766-0B9291834A4B}"/>
              </a:ext>
            </a:extLst>
          </p:cNvPr>
          <p:cNvSpPr txBox="1">
            <a:spLocks/>
          </p:cNvSpPr>
          <p:nvPr/>
        </p:nvSpPr>
        <p:spPr>
          <a:xfrm>
            <a:off x="7462684" y="1575544"/>
            <a:ext cx="4106152" cy="49633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Same-day bookings account for 45% of total volume and maintain the highest reliability, with a DNA rate of just 1.8%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Attendance is most stable within the first 48 hours. Once an appointment is booked more than 2 days in advance, the median DNA more than triples, jumping from ~1.8% to over 6%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Appointments booked more than a month in advance experience DNA rates over 10%. This suggests that the longer a patient waits, the more likely the appointment is ‘forgotten’ or become irrelevant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There is a direct correlation between wait time and missed appointments. Shortening the booking-to-appointment window is not just a patient satisfaction goal; it is a critical tool for preserving clinical capacity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A35647-4BBE-C7BC-9113-929255DFC640}"/>
              </a:ext>
            </a:extLst>
          </p:cNvPr>
          <p:cNvSpPr txBox="1">
            <a:spLocks/>
          </p:cNvSpPr>
          <p:nvPr/>
        </p:nvSpPr>
        <p:spPr>
          <a:xfrm>
            <a:off x="623165" y="538712"/>
            <a:ext cx="7643954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The wait-time penalty:</a:t>
            </a:r>
          </a:p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How lead time drives </a:t>
            </a:r>
            <a:r>
              <a:rPr lang="en-US" sz="3000" dirty="0" err="1">
                <a:latin typeface="Poppins Bold" panose="00000800000000000000" pitchFamily="2" charset="0"/>
                <a:cs typeface="Poppins Bold" panose="00000800000000000000" pitchFamily="2" charset="0"/>
              </a:rPr>
              <a:t>dnaS</a:t>
            </a:r>
            <a:endParaRPr lang="en-HK" sz="3000" dirty="0"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5E0505-6E49-9B5F-0BFB-49FD00650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4" y="1592553"/>
            <a:ext cx="6702834" cy="528245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9379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8BB4F-B4E9-6109-BA3B-709B1E55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109A5-3673-0372-52E4-20146C155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0865" y="2571235"/>
            <a:ext cx="5360055" cy="1715531"/>
          </a:xfrm>
        </p:spPr>
        <p:txBody>
          <a:bodyPr/>
          <a:lstStyle/>
          <a:p>
            <a:r>
              <a:rPr lang="en-HK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249706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CBE17-32A0-024F-0836-46E93099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EE080-EE55-A802-3D44-9A793692F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164" y="1903411"/>
            <a:ext cx="10730635" cy="4415877"/>
          </a:xfrm>
        </p:spPr>
        <p:txBody>
          <a:bodyPr>
            <a:normAutofit/>
          </a:bodyPr>
          <a:lstStyle/>
          <a:p>
            <a:r>
              <a:rPr lang="en-HK" sz="1300" b="1" dirty="0">
                <a:latin typeface="Poppins" panose="00000500000000000000" pitchFamily="2" charset="0"/>
                <a:cs typeface="Poppins" panose="00000500000000000000" pitchFamily="2" charset="0"/>
              </a:rPr>
              <a:t>Prioritize London and North West for resourcing</a:t>
            </a:r>
          </a:p>
          <a:p>
            <a:r>
              <a:rPr lang="en-US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We identify Greater Manchester, Cheshire and Merseyside, and London ICBs as primary hotspots in need of additional capacity. </a:t>
            </a:r>
            <a:endParaRPr lang="en-HK" sz="13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It is highly advisable for each ICB locations to prepare for a seasonal capacity buffer – such as increasing temporary or part-time staff availability – specifically for the September to November window to mitigate the predictable surge in appointments during the winter period</a:t>
            </a:r>
          </a:p>
          <a:p>
            <a:endParaRPr lang="en-HK" sz="13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Estimating Staffing Capacity from Appointment Duration</a:t>
            </a:r>
          </a:p>
          <a:p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After estimating the average length of an appointment, the data shows that the mean actual duration is approximately 14 minutes. </a:t>
            </a:r>
          </a:p>
          <a:p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Assumptions (based on clinical-facing capacity only):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1 full-time staff member = 8-hour workday = 480 minutes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Appointment per staff per day = 480 minutes / 14 minutes = 34 appointments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Working month = 20 days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HK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Appointment per staff per month = 34 appointments a day * 20 days = 680 appointments </a:t>
            </a:r>
          </a:p>
          <a:p>
            <a:endParaRPr lang="en-HK" sz="13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endParaRPr lang="en-HK" sz="13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27D04-5599-46E1-B88F-30D2B231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C6CA13-5A7C-0CB8-CD28-9C45E417FF64}"/>
              </a:ext>
            </a:extLst>
          </p:cNvPr>
          <p:cNvSpPr txBox="1">
            <a:spLocks/>
          </p:cNvSpPr>
          <p:nvPr/>
        </p:nvSpPr>
        <p:spPr>
          <a:xfrm>
            <a:off x="623165" y="538712"/>
            <a:ext cx="7643954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HK" sz="3000" dirty="0"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B810E1-6E11-01E8-6332-9C3376B4F716}"/>
              </a:ext>
            </a:extLst>
          </p:cNvPr>
          <p:cNvSpPr txBox="1">
            <a:spLocks/>
          </p:cNvSpPr>
          <p:nvPr/>
        </p:nvSpPr>
        <p:spPr>
          <a:xfrm>
            <a:off x="623164" y="691112"/>
            <a:ext cx="7796355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RECOMMENDATION</a:t>
            </a:r>
            <a:endParaRPr lang="en-HK" sz="3000" dirty="0"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350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70E47-7CAE-3B34-8240-7D3E82D32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56988-7076-0CF1-5342-24445432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17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4588E8-341D-6438-9F92-AF4486562849}"/>
              </a:ext>
            </a:extLst>
          </p:cNvPr>
          <p:cNvSpPr txBox="1">
            <a:spLocks/>
          </p:cNvSpPr>
          <p:nvPr/>
        </p:nvSpPr>
        <p:spPr>
          <a:xfrm>
            <a:off x="623165" y="538712"/>
            <a:ext cx="7643954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HK" sz="3000" dirty="0"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0C5EE9-1777-91B5-A103-AFA9633EA6B2}"/>
              </a:ext>
            </a:extLst>
          </p:cNvPr>
          <p:cNvSpPr txBox="1">
            <a:spLocks/>
          </p:cNvSpPr>
          <p:nvPr/>
        </p:nvSpPr>
        <p:spPr>
          <a:xfrm>
            <a:off x="623164" y="691112"/>
            <a:ext cx="7796355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SUGGESTED STAFF HEADCOUNTS</a:t>
            </a:r>
            <a:endParaRPr lang="en-HK" sz="3000" dirty="0"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E22630-060D-46B3-60F3-242F82EE3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453220"/>
              </p:ext>
            </p:extLst>
          </p:nvPr>
        </p:nvGraphicFramePr>
        <p:xfrm>
          <a:off x="344796" y="3241392"/>
          <a:ext cx="11502408" cy="307789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24734">
                  <a:extLst>
                    <a:ext uri="{9D8B030D-6E8A-4147-A177-3AD203B41FA5}">
                      <a16:colId xmlns:a16="http://schemas.microsoft.com/office/drawing/2014/main" val="2107428667"/>
                    </a:ext>
                  </a:extLst>
                </a:gridCol>
                <a:gridCol w="1809402">
                  <a:extLst>
                    <a:ext uri="{9D8B030D-6E8A-4147-A177-3AD203B41FA5}">
                      <a16:colId xmlns:a16="http://schemas.microsoft.com/office/drawing/2014/main" val="1429248809"/>
                    </a:ext>
                  </a:extLst>
                </a:gridCol>
                <a:gridCol w="1917068">
                  <a:extLst>
                    <a:ext uri="{9D8B030D-6E8A-4147-A177-3AD203B41FA5}">
                      <a16:colId xmlns:a16="http://schemas.microsoft.com/office/drawing/2014/main" val="3632952491"/>
                    </a:ext>
                  </a:extLst>
                </a:gridCol>
                <a:gridCol w="1917068">
                  <a:extLst>
                    <a:ext uri="{9D8B030D-6E8A-4147-A177-3AD203B41FA5}">
                      <a16:colId xmlns:a16="http://schemas.microsoft.com/office/drawing/2014/main" val="2635088023"/>
                    </a:ext>
                  </a:extLst>
                </a:gridCol>
                <a:gridCol w="1917068">
                  <a:extLst>
                    <a:ext uri="{9D8B030D-6E8A-4147-A177-3AD203B41FA5}">
                      <a16:colId xmlns:a16="http://schemas.microsoft.com/office/drawing/2014/main" val="3079691615"/>
                    </a:ext>
                  </a:extLst>
                </a:gridCol>
                <a:gridCol w="1917068">
                  <a:extLst>
                    <a:ext uri="{9D8B030D-6E8A-4147-A177-3AD203B41FA5}">
                      <a16:colId xmlns:a16="http://schemas.microsoft.com/office/drawing/2014/main" val="4269467909"/>
                    </a:ext>
                  </a:extLst>
                </a:gridCol>
              </a:tblGrid>
              <a:tr h="455935"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Region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Avg</a:t>
                      </a: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 Monthly Appts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Max Appt Count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Avg</a:t>
                      </a: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 Staff needed per month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Max Staff needed for winter months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Additional Staff 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38185"/>
                  </a:ext>
                </a:extLst>
              </a:tr>
              <a:tr h="36474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Midlands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4,882,988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5,646,820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7,181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8,304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16%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54225"/>
                  </a:ext>
                </a:extLst>
              </a:tr>
              <a:tr h="3800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North East and Yorkshire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4,535,982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5,207,779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6,671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7,658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536445"/>
                  </a:ext>
                </a:extLst>
              </a:tr>
              <a:tr h="36474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London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3,685,351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4,142,482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5,420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6,092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12%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007756"/>
                  </a:ext>
                </a:extLst>
              </a:tr>
              <a:tr h="36474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South East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3,424,830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3,926,508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5,037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5,774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329407"/>
                  </a:ext>
                </a:extLst>
              </a:tr>
              <a:tr h="36474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North 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3,008,509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3,470,050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4,424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5,103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15%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216503"/>
                  </a:ext>
                </a:extLst>
              </a:tr>
              <a:tr h="41692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East of England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2,935,940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3,401,791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4,318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5,003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16%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372385"/>
                  </a:ext>
                </a:extLst>
              </a:tr>
              <a:tr h="36474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South West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2,780,276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3,230,894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4,089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4,751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HK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16%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0468"/>
                  </a:ext>
                </a:extLst>
              </a:tr>
            </a:tbl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CF98D16-E114-ECDA-C1A0-CED91CE1E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164" y="1903412"/>
            <a:ext cx="10730635" cy="1053842"/>
          </a:xfrm>
        </p:spPr>
        <p:txBody>
          <a:bodyPr>
            <a:normAutofit/>
          </a:bodyPr>
          <a:lstStyle/>
          <a:p>
            <a:r>
              <a:rPr lang="en-HK" sz="1300" b="1" dirty="0">
                <a:latin typeface="Poppins Light" panose="00000400000000000000" pitchFamily="2" charset="0"/>
                <a:cs typeface="Poppins Light" panose="00000400000000000000" pitchFamily="2" charset="0"/>
              </a:rPr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Calculation below reflects pure appointment-facing time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Excludes part-time staff, sickness, annual leave, training, and other non-clinical activities </a:t>
            </a:r>
          </a:p>
        </p:txBody>
      </p:sp>
    </p:spTree>
    <p:extLst>
      <p:ext uri="{BB962C8B-B14F-4D97-AF65-F5344CB8AC3E}">
        <p14:creationId xmlns:p14="http://schemas.microsoft.com/office/powerpoint/2010/main" val="225063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EF006-A0E7-360F-5F4E-A73FEF97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EC455-2CE2-60F5-8DA2-C98543ED8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164" y="1903411"/>
            <a:ext cx="10730635" cy="4694034"/>
          </a:xfrm>
        </p:spPr>
        <p:txBody>
          <a:bodyPr>
            <a:normAutofit/>
          </a:bodyPr>
          <a:lstStyle/>
          <a:p>
            <a:r>
              <a:rPr lang="en-HK" sz="1300" b="1" dirty="0">
                <a:latin typeface="Poppins" panose="00000500000000000000" pitchFamily="2" charset="0"/>
                <a:cs typeface="Poppins" panose="00000500000000000000" pitchFamily="2" charset="0"/>
              </a:rPr>
              <a:t>Implement a Smart Scheduling SMS into workflow </a:t>
            </a:r>
          </a:p>
          <a:p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Integrate automated SMS reminders into the appointment booking workflow 1 – 2 days before the scheduled appointment. I recommend further incorporating a mandatory opt-in confirmation step to improve attendance predictability. </a:t>
            </a:r>
            <a:endParaRPr lang="en-HK" sz="13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HK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HK" sz="1300" b="1" dirty="0">
                <a:latin typeface="Poppins" panose="00000500000000000000" pitchFamily="2" charset="0"/>
                <a:cs typeface="Poppins" panose="00000500000000000000" pitchFamily="2" charset="0"/>
              </a:rPr>
              <a:t>Shift preliminary triages to digital channels</a:t>
            </a:r>
          </a:p>
          <a:p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Move routine or initial triages to Telephone or Video/Online appointment modes so the NHS can preserve finite Face-to-Face capacity for patients with complex clinical needs. Given that virtual appointment modes have better attendance rates, this shift can further mitigate missed appointments. </a:t>
            </a:r>
            <a:endParaRPr lang="en-HK" sz="13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HK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HK" sz="1300" b="1" dirty="0">
                <a:latin typeface="Poppins" panose="00000500000000000000" pitchFamily="2" charset="0"/>
                <a:cs typeface="Poppins" panose="00000500000000000000" pitchFamily="2" charset="0"/>
              </a:rPr>
              <a:t>Address the Unknown Data Quality Gap</a:t>
            </a:r>
          </a:p>
          <a:p>
            <a:r>
              <a:rPr lang="en-HK" sz="1300" dirty="0">
                <a:latin typeface="Poppins Light" panose="00000400000000000000" pitchFamily="2" charset="0"/>
                <a:cs typeface="Poppins Light" panose="00000400000000000000" pitchFamily="2" charset="0"/>
              </a:rPr>
              <a:t>Standardize data entry protocols at the point of booking. The high volume of ‘Unknown’ settings suggests that current booking systems allow for data ‘shortcuts’ that bypass critical reporting fields.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8FDB3-88A6-4C8C-1B0B-99AD970DE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8E20E0-C4E4-1945-D22D-ECEB3DE32DA6}"/>
              </a:ext>
            </a:extLst>
          </p:cNvPr>
          <p:cNvSpPr txBox="1">
            <a:spLocks/>
          </p:cNvSpPr>
          <p:nvPr/>
        </p:nvSpPr>
        <p:spPr>
          <a:xfrm>
            <a:off x="623165" y="538712"/>
            <a:ext cx="7643954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HK" sz="3000" dirty="0"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43CBF1C-236F-3C46-E690-972A3E45B777}"/>
              </a:ext>
            </a:extLst>
          </p:cNvPr>
          <p:cNvSpPr txBox="1">
            <a:spLocks/>
          </p:cNvSpPr>
          <p:nvPr/>
        </p:nvSpPr>
        <p:spPr>
          <a:xfrm>
            <a:off x="623164" y="691112"/>
            <a:ext cx="7796355" cy="1053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Poppins Bold" panose="00000800000000000000" pitchFamily="2" charset="0"/>
                <a:cs typeface="Poppins Bold" panose="00000800000000000000" pitchFamily="2" charset="0"/>
              </a:rPr>
              <a:t>Further RECOMMENDATION</a:t>
            </a:r>
            <a:endParaRPr lang="en-HK" sz="3000" dirty="0"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624679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{834E789B-D9BD-4488-9E39-F4503963CF2E}TF1ed81438-95a7-4ae9-841d-43ea2c64f7fc8ae7ff09_win32-aa52a5bb69e3</Template>
  <TotalTime>2041</TotalTime>
  <Words>2525</Words>
  <Application>Microsoft Office PowerPoint</Application>
  <PresentationFormat>Widescreen</PresentationFormat>
  <Paragraphs>254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Poppins</vt:lpstr>
      <vt:lpstr>Poppins Bold</vt:lpstr>
      <vt:lpstr>Poppins Light</vt:lpstr>
      <vt:lpstr>Tenorite</vt:lpstr>
      <vt:lpstr>Wingdings</vt:lpstr>
      <vt:lpstr>Monoline</vt:lpstr>
      <vt:lpstr>DIAGNOSTIC ANALYSIS USING PYTHON</vt:lpstr>
      <vt:lpstr>AGENDA</vt:lpstr>
      <vt:lpstr>Missed appointments: why this matters</vt:lpstr>
      <vt:lpstr>WHERE THE PRESSURE IS</vt:lpstr>
      <vt:lpstr>The regional landscape:  appointment demand</vt:lpstr>
      <vt:lpstr>SERVICE MIX:</vt:lpstr>
      <vt:lpstr>GP Activity profiling</vt:lpstr>
      <vt:lpstr>PowerPoint Presentation</vt:lpstr>
      <vt:lpstr>Booking Gaps, delivery modes, and regional dna trends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Pong, Alison X. -ND</dc:creator>
  <cp:lastModifiedBy>Pong, Alison X. -ND</cp:lastModifiedBy>
  <cp:revision>51</cp:revision>
  <dcterms:created xsi:type="dcterms:W3CDTF">2026-03-04T09:07:26Z</dcterms:created>
  <dcterms:modified xsi:type="dcterms:W3CDTF">2026-03-09T08:59:39Z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62e0584-010f-4004-8a6a-d5c118c8b4bd_Enabled">
    <vt:lpwstr>true</vt:lpwstr>
  </property>
  <property fmtid="{D5CDD505-2E9C-101B-9397-08002B2CF9AE}" pid="4" name="MSIP_Label_c62e0584-010f-4004-8a6a-d5c118c8b4bd_SetDate">
    <vt:lpwstr>2026-03-04T09:17:57Z</vt:lpwstr>
  </property>
  <property fmtid="{D5CDD505-2E9C-101B-9397-08002B2CF9AE}" pid="5" name="MSIP_Label_c62e0584-010f-4004-8a6a-d5c118c8b4bd_Method">
    <vt:lpwstr>Standard</vt:lpwstr>
  </property>
  <property fmtid="{D5CDD505-2E9C-101B-9397-08002B2CF9AE}" pid="6" name="MSIP_Label_c62e0584-010f-4004-8a6a-d5c118c8b4bd_Name">
    <vt:lpwstr>Internal</vt:lpwstr>
  </property>
  <property fmtid="{D5CDD505-2E9C-101B-9397-08002B2CF9AE}" pid="7" name="MSIP_Label_c62e0584-010f-4004-8a6a-d5c118c8b4bd_SiteId">
    <vt:lpwstr>56b731a8-a2ac-4c32-bf6b-616810e913c6</vt:lpwstr>
  </property>
  <property fmtid="{D5CDD505-2E9C-101B-9397-08002B2CF9AE}" pid="8" name="MSIP_Label_c62e0584-010f-4004-8a6a-d5c118c8b4bd_ActionId">
    <vt:lpwstr>5380c77b-18f8-4d31-a3e1-316cd33332c7</vt:lpwstr>
  </property>
  <property fmtid="{D5CDD505-2E9C-101B-9397-08002B2CF9AE}" pid="9" name="MSIP_Label_c62e0584-010f-4004-8a6a-d5c118c8b4bd_ContentBits">
    <vt:lpwstr>0</vt:lpwstr>
  </property>
  <property fmtid="{D5CDD505-2E9C-101B-9397-08002B2CF9AE}" pid="10" name="MSIP_Label_c62e0584-010f-4004-8a6a-d5c118c8b4bd_Tag">
    <vt:lpwstr>10, 3, 0, 1</vt:lpwstr>
  </property>
</Properties>
</file>